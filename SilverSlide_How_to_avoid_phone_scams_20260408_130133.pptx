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 so glad you're here today. Phone scams are more common than ever, but the good news is that a few simple habits can keep you very safe. By the end of this, you'll feel confident and ready to handle any suspicious call.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Scammers are very good at sounding official and urgent. A real government agency like the IRS or Social Security will never call and demand immediate payment over the phone. If someone says 'act now or lose your money,' that is almost always a scam. Your instincts are powerful — if something feels wrong, it probably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never rude for hanging up on a scammer — in fact, that is exactly the right thing to do. If someone says they're from your bank or Medicare, hang up and call that organization directly using the number on their official website or on the back of your card. You are always in control of the call.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have to answer every call — letting it go to voicemail is a smart habit, not a rude one. Real callers will always leave a message. The National Do Not Call Registry at donotcall.gov can reduce unwanted calls. And sharing what you learn today with a neighbor or grandchild helps protect them too.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done a wonderful thing by taking the time to learn about this today. Remembering just one thing — that it's always okay to hang up — can protect you and the people you love. You are more prepared than you think, and your awareness is your best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56032" cy="5143500"/>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6300"/>
            <a:ext cx="9144000" cy="457200"/>
          </a:xfrm>
          <a:prstGeom prst="rect">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2651760"/>
            <a:ext cx="8229600" cy="36576"/>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77240"/>
            <a:ext cx="8229600" cy="1737360"/>
          </a:xfrm>
          <a:prstGeom prst="rect">
            <a:avLst/>
          </a:prstGeom>
          <a:noFill/>
        </p:spPr>
        <p:txBody>
          <a:bodyPr wrap="square">
            <a:spAutoFit/>
          </a:bodyPr>
          <a:lstStyle/>
          <a:p>
            <a:pPr algn="l"/>
            <a:r>
              <a:rPr sz="4000" b="1" i="0" u="none">
                <a:solidFill>
                  <a:srgbClr val="FFFFFF"/>
                </a:solidFill>
                <a:latin typeface="Calibri"/>
              </a:rPr>
              <a:t>Don't Get Tricked: Staying Safe from Phone Scams</a:t>
            </a:r>
          </a:p>
        </p:txBody>
      </p:sp>
      <p:sp>
        <p:nvSpPr>
          <p:cNvPr id="6" name="TextBox 5"/>
          <p:cNvSpPr txBox="1"/>
          <p:nvPr/>
        </p:nvSpPr>
        <p:spPr>
          <a:xfrm>
            <a:off x="502920" y="2788920"/>
            <a:ext cx="8229600" cy="685800"/>
          </a:xfrm>
          <a:prstGeom prst="rect">
            <a:avLst/>
          </a:prstGeom>
          <a:noFill/>
        </p:spPr>
        <p:txBody>
          <a:bodyPr wrap="square">
            <a:spAutoFit/>
          </a:bodyPr>
          <a:lstStyle/>
          <a:p>
            <a:pPr algn="l"/>
            <a:r>
              <a:rPr sz="2000" b="0" i="0" u="none">
                <a:solidFill>
                  <a:srgbClr val="9EC8E0"/>
                </a:solidFill>
                <a:latin typeface="Calibri"/>
              </a:rPr>
              <a:t>Simple steps to protect yourself and your family</a:t>
            </a:r>
          </a:p>
        </p:txBody>
      </p:sp>
      <p:sp>
        <p:nvSpPr>
          <p:cNvPr id="7" name="TextBox 6"/>
          <p:cNvSpPr txBox="1"/>
          <p:nvPr/>
        </p:nvSpPr>
        <p:spPr>
          <a:xfrm>
            <a:off x="502920" y="4727448"/>
            <a:ext cx="7772400" cy="320040"/>
          </a:xfrm>
          <a:prstGeom prst="rect">
            <a:avLst/>
          </a:prstGeom>
          <a:noFill/>
        </p:spPr>
        <p:txBody>
          <a:bodyPr wrap="square">
            <a:spAutoFit/>
          </a:bodyPr>
          <a:lstStyle/>
          <a:p>
            <a:pPr algn="l"/>
            <a:r>
              <a:rPr sz="1100" b="0" i="0" u="none">
                <a:solidFill>
                  <a:srgbClr val="6B8FAF"/>
                </a:solidFill>
                <a:latin typeface="Calibri"/>
              </a:rPr>
              <a:t>Created by SilverSlide Agent  •  Senior-Friendly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8321040" cy="850392"/>
          </a:xfrm>
          <a:prstGeom prst="rect">
            <a:avLst/>
          </a:prstGeom>
          <a:noFill/>
        </p:spPr>
        <p:txBody>
          <a:bodyPr wrap="square" anchor="ctr">
            <a:spAutoFit/>
          </a:bodyPr>
          <a:lstStyle/>
          <a:p>
            <a:pPr algn="l"/>
            <a:r>
              <a:rPr sz="3000" b="1" i="0" u="none">
                <a:solidFill>
                  <a:srgbClr val="FFFFFF"/>
                </a:solidFill>
                <a:latin typeface="Calibri"/>
              </a:rPr>
              <a:t>How to Spot a Scam Call</a:t>
            </a:r>
          </a:p>
        </p:txBody>
      </p:sp>
      <p:sp>
        <p:nvSpPr>
          <p:cNvPr id="4" name="Rectangle 3"/>
          <p:cNvSpPr/>
          <p:nvPr/>
        </p:nvSpPr>
        <p:spPr>
          <a:xfrm>
            <a:off x="0" y="1051560"/>
            <a:ext cx="256032" cy="4091939"/>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70432"/>
            <a:ext cx="8412480" cy="3657600"/>
          </a:xfrm>
          <a:prstGeom prst="rect">
            <a:avLst/>
          </a:prstGeom>
          <a:noFill/>
        </p:spPr>
        <p:txBody>
          <a:bodyPr wrap="square">
            <a:spAutoFit/>
          </a:bodyPr>
          <a:lstStyle/>
          <a:p>
            <a:pPr algn="l">
              <a:buChar char="•"/>
              <a:spcAft>
                <a:spcPts val="1000"/>
              </a:spcAft>
            </a:pPr>
            <a:r>
              <a:rPr sz="2400">
                <a:solidFill>
                  <a:srgbClr val="1A202C"/>
                </a:solidFill>
                <a:latin typeface="Calibri"/>
              </a:rPr>
              <a:t>They pressure you to act right now</a:t>
            </a:r>
          </a:p>
          <a:p>
            <a:pPr algn="l">
              <a:buChar char="•"/>
              <a:spcAft>
                <a:spcPts val="1000"/>
              </a:spcAft>
            </a:pPr>
            <a:r>
              <a:rPr sz="2400">
                <a:solidFill>
                  <a:srgbClr val="1A202C"/>
                </a:solidFill>
                <a:latin typeface="Calibri"/>
              </a:rPr>
              <a:t>They ask for gift cards or wire transfers</a:t>
            </a:r>
          </a:p>
          <a:p>
            <a:pPr algn="l">
              <a:buChar char="•"/>
              <a:spcAft>
                <a:spcPts val="1000"/>
              </a:spcAft>
            </a:pPr>
            <a:r>
              <a:rPr sz="2400">
                <a:solidFill>
                  <a:srgbClr val="1A202C"/>
                </a:solidFill>
                <a:latin typeface="Calibri"/>
              </a:rPr>
              <a:t>They claim to be the IRS or Medicare</a:t>
            </a:r>
          </a:p>
          <a:p>
            <a:pPr algn="l">
              <a:buChar char="•"/>
              <a:spcAft>
                <a:spcPts val="1000"/>
              </a:spcAft>
            </a:pPr>
            <a:r>
              <a:rPr sz="2400">
                <a:solidFill>
                  <a:srgbClr val="1A202C"/>
                </a:solidFill>
                <a:latin typeface="Calibri"/>
              </a:rPr>
              <a:t>They say you won a prize you never entered</a:t>
            </a:r>
          </a:p>
          <a:p>
            <a:pPr algn="l">
              <a:buChar char="•"/>
              <a:spcAft>
                <a:spcPts val="1000"/>
              </a:spcAft>
            </a:pPr>
            <a:r>
              <a:rPr sz="2400">
                <a:solidFill>
                  <a:srgbClr val="1A202C"/>
                </a:solidFill>
                <a:latin typeface="Calibri"/>
              </a:rPr>
              <a:t>Something feels 'off' — trust that feeling</a:t>
            </a:r>
          </a:p>
        </p:txBody>
      </p:sp>
      <p:sp>
        <p:nvSpPr>
          <p:cNvPr id="6" name="TextBox 5"/>
          <p:cNvSpPr txBox="1"/>
          <p:nvPr/>
        </p:nvSpPr>
        <p:spPr>
          <a:xfrm>
            <a:off x="8138160" y="4800600"/>
            <a:ext cx="822960" cy="274320"/>
          </a:xfrm>
          <a:prstGeom prst="rect">
            <a:avLst/>
          </a:prstGeom>
          <a:noFill/>
        </p:spPr>
        <p:txBody>
          <a:bodyPr wrap="square">
            <a:spAutoFit/>
          </a:bodyPr>
          <a:lstStyle/>
          <a:p>
            <a:pPr algn="r"/>
            <a:r>
              <a:rPr sz="1100" b="0" i="0" u="none">
                <a:solidFill>
                  <a:srgbClr val="A0AEC0"/>
                </a:solidFill>
                <a:latin typeface="Calibri"/>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8321040" cy="850392"/>
          </a:xfrm>
          <a:prstGeom prst="rect">
            <a:avLst/>
          </a:prstGeom>
          <a:noFill/>
        </p:spPr>
        <p:txBody>
          <a:bodyPr wrap="square" anchor="ctr">
            <a:spAutoFit/>
          </a:bodyPr>
          <a:lstStyle/>
          <a:p>
            <a:pPr algn="l"/>
            <a:r>
              <a:rPr sz="3000" b="1" i="0" u="none">
                <a:solidFill>
                  <a:srgbClr val="FFFFFF"/>
                </a:solidFill>
                <a:latin typeface="Calibri"/>
              </a:rPr>
              <a:t>What to Do When a Suspicious Call Comes In</a:t>
            </a:r>
          </a:p>
        </p:txBody>
      </p:sp>
      <p:sp>
        <p:nvSpPr>
          <p:cNvPr id="4" name="Rectangle 3"/>
          <p:cNvSpPr/>
          <p:nvPr/>
        </p:nvSpPr>
        <p:spPr>
          <a:xfrm>
            <a:off x="0" y="1051560"/>
            <a:ext cx="256032" cy="4091939"/>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70432"/>
            <a:ext cx="8412480" cy="3657600"/>
          </a:xfrm>
          <a:prstGeom prst="rect">
            <a:avLst/>
          </a:prstGeom>
          <a:noFill/>
        </p:spPr>
        <p:txBody>
          <a:bodyPr wrap="square">
            <a:spAutoFit/>
          </a:bodyPr>
          <a:lstStyle/>
          <a:p>
            <a:pPr algn="l">
              <a:buChar char="•"/>
              <a:spcAft>
                <a:spcPts val="1000"/>
              </a:spcAft>
            </a:pPr>
            <a:r>
              <a:rPr sz="2400">
                <a:solidFill>
                  <a:srgbClr val="1A202C"/>
                </a:solidFill>
                <a:latin typeface="Calibri"/>
              </a:rPr>
              <a:t>It's perfectly okay to hang up immediately</a:t>
            </a:r>
          </a:p>
          <a:p>
            <a:pPr algn="l">
              <a:buChar char="•"/>
              <a:spcAft>
                <a:spcPts val="1000"/>
              </a:spcAft>
            </a:pPr>
            <a:r>
              <a:rPr sz="2400">
                <a:solidFill>
                  <a:srgbClr val="1A202C"/>
                </a:solidFill>
                <a:latin typeface="Calibri"/>
              </a:rPr>
              <a:t>Never share your Social Security number</a:t>
            </a:r>
          </a:p>
          <a:p>
            <a:pPr algn="l">
              <a:buChar char="•"/>
              <a:spcAft>
                <a:spcPts val="1000"/>
              </a:spcAft>
            </a:pPr>
            <a:r>
              <a:rPr sz="2400">
                <a:solidFill>
                  <a:srgbClr val="1A202C"/>
                </a:solidFill>
                <a:latin typeface="Calibri"/>
              </a:rPr>
              <a:t>Don't give out bank or credit card details</a:t>
            </a:r>
          </a:p>
          <a:p>
            <a:pPr algn="l">
              <a:buChar char="•"/>
              <a:spcAft>
                <a:spcPts val="1000"/>
              </a:spcAft>
            </a:pPr>
            <a:r>
              <a:rPr sz="2400">
                <a:solidFill>
                  <a:srgbClr val="1A202C"/>
                </a:solidFill>
                <a:latin typeface="Calibri"/>
              </a:rPr>
              <a:t>Call the real organization back yourself</a:t>
            </a:r>
          </a:p>
          <a:p>
            <a:pPr algn="l">
              <a:buChar char="•"/>
              <a:spcAft>
                <a:spcPts val="1000"/>
              </a:spcAft>
            </a:pPr>
            <a:r>
              <a:rPr sz="2400">
                <a:solidFill>
                  <a:srgbClr val="1A202C"/>
                </a:solidFill>
                <a:latin typeface="Calibri"/>
              </a:rPr>
              <a:t>Ask a trusted family member if unsure</a:t>
            </a:r>
          </a:p>
        </p:txBody>
      </p:sp>
      <p:sp>
        <p:nvSpPr>
          <p:cNvPr id="6" name="TextBox 5"/>
          <p:cNvSpPr txBox="1"/>
          <p:nvPr/>
        </p:nvSpPr>
        <p:spPr>
          <a:xfrm>
            <a:off x="8138160" y="4800600"/>
            <a:ext cx="822960" cy="274320"/>
          </a:xfrm>
          <a:prstGeom prst="rect">
            <a:avLst/>
          </a:prstGeom>
          <a:noFill/>
        </p:spPr>
        <p:txBody>
          <a:bodyPr wrap="square">
            <a:spAutoFit/>
          </a:bodyPr>
          <a:lstStyle/>
          <a:p>
            <a:pPr algn="r"/>
            <a:r>
              <a:rPr sz="1100" b="0" i="0" u="none">
                <a:solidFill>
                  <a:srgbClr val="A0AEC0"/>
                </a:solidFill>
                <a:latin typeface="Calibri"/>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0" y="0"/>
            <a:ext cx="9144000" cy="10515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8321040" cy="850392"/>
          </a:xfrm>
          <a:prstGeom prst="rect">
            <a:avLst/>
          </a:prstGeom>
          <a:noFill/>
        </p:spPr>
        <p:txBody>
          <a:bodyPr wrap="square" anchor="ctr">
            <a:spAutoFit/>
          </a:bodyPr>
          <a:lstStyle/>
          <a:p>
            <a:pPr algn="l"/>
            <a:r>
              <a:rPr sz="3000" b="1" i="0" u="none">
                <a:solidFill>
                  <a:srgbClr val="FFFFFF"/>
                </a:solidFill>
                <a:latin typeface="Calibri"/>
              </a:rPr>
              <a:t>Simple Habits That Keep You Protected</a:t>
            </a:r>
          </a:p>
        </p:txBody>
      </p:sp>
      <p:sp>
        <p:nvSpPr>
          <p:cNvPr id="4" name="Rectangle 3"/>
          <p:cNvSpPr/>
          <p:nvPr/>
        </p:nvSpPr>
        <p:spPr>
          <a:xfrm>
            <a:off x="0" y="1051560"/>
            <a:ext cx="256032" cy="4091939"/>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70432"/>
            <a:ext cx="8412480" cy="3657600"/>
          </a:xfrm>
          <a:prstGeom prst="rect">
            <a:avLst/>
          </a:prstGeom>
          <a:noFill/>
        </p:spPr>
        <p:txBody>
          <a:bodyPr wrap="square">
            <a:spAutoFit/>
          </a:bodyPr>
          <a:lstStyle/>
          <a:p>
            <a:pPr algn="l">
              <a:buChar char="•"/>
              <a:spcAft>
                <a:spcPts val="1000"/>
              </a:spcAft>
            </a:pPr>
            <a:r>
              <a:rPr sz="2400">
                <a:solidFill>
                  <a:srgbClr val="1A202C"/>
                </a:solidFill>
                <a:latin typeface="Calibri"/>
              </a:rPr>
              <a:t>Let unknown numbers go to voicemail</a:t>
            </a:r>
          </a:p>
          <a:p>
            <a:pPr algn="l">
              <a:buChar char="•"/>
              <a:spcAft>
                <a:spcPts val="1000"/>
              </a:spcAft>
            </a:pPr>
            <a:r>
              <a:rPr sz="2400">
                <a:solidFill>
                  <a:srgbClr val="1A202C"/>
                </a:solidFill>
                <a:latin typeface="Calibri"/>
              </a:rPr>
              <a:t>Add your number to the Do Not Call Registry</a:t>
            </a:r>
          </a:p>
          <a:p>
            <a:pPr algn="l">
              <a:buChar char="•"/>
              <a:spcAft>
                <a:spcPts val="1000"/>
              </a:spcAft>
            </a:pPr>
            <a:r>
              <a:rPr sz="2400">
                <a:solidFill>
                  <a:srgbClr val="1A202C"/>
                </a:solidFill>
                <a:latin typeface="Calibri"/>
              </a:rPr>
              <a:t>Tell a friend or family member about scams</a:t>
            </a:r>
          </a:p>
          <a:p>
            <a:pPr algn="l">
              <a:buChar char="•"/>
              <a:spcAft>
                <a:spcPts val="1000"/>
              </a:spcAft>
            </a:pPr>
            <a:r>
              <a:rPr sz="2400">
                <a:solidFill>
                  <a:srgbClr val="1A202C"/>
                </a:solidFill>
                <a:latin typeface="Calibri"/>
              </a:rPr>
              <a:t>Report scam calls to 1-877-FTC-HELP</a:t>
            </a:r>
          </a:p>
        </p:txBody>
      </p:sp>
      <p:sp>
        <p:nvSpPr>
          <p:cNvPr id="6" name="TextBox 5"/>
          <p:cNvSpPr txBox="1"/>
          <p:nvPr/>
        </p:nvSpPr>
        <p:spPr>
          <a:xfrm>
            <a:off x="8138160" y="4800600"/>
            <a:ext cx="822960" cy="274320"/>
          </a:xfrm>
          <a:prstGeom prst="rect">
            <a:avLst/>
          </a:prstGeom>
          <a:noFill/>
        </p:spPr>
        <p:txBody>
          <a:bodyPr wrap="square">
            <a:spAutoFit/>
          </a:bodyPr>
          <a:lstStyle/>
          <a:p>
            <a:pPr algn="r"/>
            <a:r>
              <a:rPr sz="1100" b="0" i="0" u="none">
                <a:solidFill>
                  <a:srgbClr val="A0AEC0"/>
                </a:solidFill>
                <a:latin typeface="Calibri"/>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Rectangle 1"/>
          <p:cNvSpPr/>
          <p:nvPr/>
        </p:nvSpPr>
        <p:spPr>
          <a:xfrm>
            <a:off x="0" y="0"/>
            <a:ext cx="256032" cy="5143500"/>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6300"/>
            <a:ext cx="9144000" cy="457200"/>
          </a:xfrm>
          <a:prstGeom prst="rect">
            <a:avLst/>
          </a:prstGeom>
          <a:solidFill>
            <a:srgbClr val="1227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8412480" cy="822960"/>
          </a:xfrm>
          <a:prstGeom prst="rect">
            <a:avLst/>
          </a:prstGeom>
          <a:noFill/>
        </p:spPr>
        <p:txBody>
          <a:bodyPr wrap="square" anchor="ctr">
            <a:spAutoFit/>
          </a:bodyPr>
          <a:lstStyle/>
          <a:p>
            <a:pPr algn="l"/>
            <a:r>
              <a:rPr sz="3400" b="1" i="0" u="none">
                <a:solidFill>
                  <a:srgbClr val="FFFFFF"/>
                </a:solidFill>
                <a:latin typeface="Calibri"/>
              </a:rPr>
              <a:t>What to Remember</a:t>
            </a:r>
          </a:p>
        </p:txBody>
      </p:sp>
      <p:sp>
        <p:nvSpPr>
          <p:cNvPr id="5" name="Rectangle 4"/>
          <p:cNvSpPr/>
          <p:nvPr/>
        </p:nvSpPr>
        <p:spPr>
          <a:xfrm>
            <a:off x="457200" y="1078992"/>
            <a:ext cx="8412480" cy="36576"/>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8412480" cy="3200400"/>
          </a:xfrm>
          <a:prstGeom prst="rect">
            <a:avLst/>
          </a:prstGeom>
          <a:noFill/>
        </p:spPr>
        <p:txBody>
          <a:bodyPr wrap="square">
            <a:spAutoFit/>
          </a:bodyPr>
          <a:lstStyle/>
          <a:p>
            <a:pPr algn="l">
              <a:spcAft>
                <a:spcPts val="1400"/>
              </a:spcAft>
            </a:pPr>
            <a:r>
              <a:rPr sz="2400">
                <a:solidFill>
                  <a:srgbClr val="FFFFFF"/>
                </a:solidFill>
                <a:latin typeface="Calibri"/>
              </a:rPr>
              <a:t>✓  Hang up if anything feels suspicious</a:t>
            </a:r>
          </a:p>
          <a:p>
            <a:pPr algn="l">
              <a:spcAft>
                <a:spcPts val="1400"/>
              </a:spcAft>
            </a:pPr>
            <a:r>
              <a:rPr sz="2400">
                <a:solidFill>
                  <a:srgbClr val="FFFFFF"/>
                </a:solidFill>
                <a:latin typeface="Calibri"/>
              </a:rPr>
              <a:t>✓  Never share personal or financial information</a:t>
            </a:r>
          </a:p>
          <a:p>
            <a:pPr algn="l">
              <a:spcAft>
                <a:spcPts val="1400"/>
              </a:spcAft>
            </a:pPr>
            <a:r>
              <a:rPr sz="2400">
                <a:solidFill>
                  <a:srgbClr val="FFFFFF"/>
                </a:solidFill>
                <a:latin typeface="Calibri"/>
              </a:rPr>
              <a:t>✓  Tell someone you trust about what you learned today</a:t>
            </a:r>
          </a:p>
        </p:txBody>
      </p:sp>
      <p:sp>
        <p:nvSpPr>
          <p:cNvPr id="7" name="TextBox 6"/>
          <p:cNvSpPr txBox="1"/>
          <p:nvPr/>
        </p:nvSpPr>
        <p:spPr>
          <a:xfrm>
            <a:off x="457200" y="4700016"/>
            <a:ext cx="8229600" cy="320040"/>
          </a:xfrm>
          <a:prstGeom prst="rect">
            <a:avLst/>
          </a:prstGeom>
          <a:noFill/>
        </p:spPr>
        <p:txBody>
          <a:bodyPr wrap="square">
            <a:spAutoFit/>
          </a:bodyPr>
          <a:lstStyle/>
          <a:p>
            <a:pPr algn="l"/>
            <a:r>
              <a:rPr sz="1200" b="0" i="1" u="none">
                <a:solidFill>
                  <a:srgbClr val="6B8FAF"/>
                </a:solidFill>
                <a:latin typeface="Calibri"/>
              </a:rPr>
              <a:t>Questions? Talk with your doctor, family, or community coordinator.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